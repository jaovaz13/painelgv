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Série Histórica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2000</c:v>
                </c:pt>
                <c:pt idx="1">
                  <c:v>2010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0.6221</c:v>
                </c:pt>
                <c:pt idx="1">
                  <c:v>0.5377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Série Histórica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2000</c:v>
                </c:pt>
                <c:pt idx="1">
                  <c:v>2010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0.6221</c:v>
                </c:pt>
                <c:pt idx="1">
                  <c:v>0.5377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Série Histórica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2000</c:v>
                </c:pt>
                <c:pt idx="1">
                  <c:v>2010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0.635</c:v>
                </c:pt>
                <c:pt idx="1">
                  <c:v>0.727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Série Histórica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2000</c:v>
                </c:pt>
                <c:pt idx="1">
                  <c:v>2010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0.635</c:v>
                </c:pt>
                <c:pt idx="1">
                  <c:v>0.727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Série Histórica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8692949.952145064</c:v>
                </c:pt>
                <c:pt idx="1">
                  <c:v>9086822.196856562</c:v>
                </c:pt>
                <c:pt idx="2">
                  <c:v>9479618.287893984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Série Histórica</c:v>
                </c:pt>
              </c:strCache>
            </c:strRef>
          </c:tx>
          <c:cat>
            <c:strRef>
              <c:f>Sheet1!$A$2:$A$23</c:f>
              <c:strCache>
                <c:ptCount val="22"/>
                <c:pt idx="0">
                  <c:v>2002</c:v>
                </c:pt>
                <c:pt idx="1">
                  <c:v>2003</c:v>
                </c:pt>
                <c:pt idx="2">
                  <c:v>2004</c:v>
                </c:pt>
                <c:pt idx="3">
                  <c:v>2005</c:v>
                </c:pt>
                <c:pt idx="4">
                  <c:v>2006</c:v>
                </c:pt>
                <c:pt idx="5">
                  <c:v>2007</c:v>
                </c:pt>
                <c:pt idx="6">
                  <c:v>2008</c:v>
                </c:pt>
                <c:pt idx="7">
                  <c:v>2009</c:v>
                </c:pt>
                <c:pt idx="8">
                  <c:v>2010</c:v>
                </c:pt>
                <c:pt idx="9">
                  <c:v>2011</c:v>
                </c:pt>
                <c:pt idx="10">
                  <c:v>2012</c:v>
                </c:pt>
                <c:pt idx="11">
                  <c:v>2013</c:v>
                </c:pt>
                <c:pt idx="12">
                  <c:v>2014</c:v>
                </c:pt>
                <c:pt idx="13">
                  <c:v>2015</c:v>
                </c:pt>
                <c:pt idx="14">
                  <c:v>2016</c:v>
                </c:pt>
                <c:pt idx="15">
                  <c:v>2017</c:v>
                </c:pt>
                <c:pt idx="16">
                  <c:v>2018</c:v>
                </c:pt>
                <c:pt idx="17">
                  <c:v>2019</c:v>
                </c:pt>
                <c:pt idx="18">
                  <c:v>2020</c:v>
                </c:pt>
                <c:pt idx="19">
                  <c:v>2021</c:v>
                </c:pt>
                <c:pt idx="20">
                  <c:v>2022</c:v>
                </c:pt>
                <c:pt idx="21">
                  <c:v>2023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1459769.0</c:v>
                </c:pt>
                <c:pt idx="1">
                  <c:v>1684583.0</c:v>
                </c:pt>
                <c:pt idx="2">
                  <c:v>1828010.0</c:v>
                </c:pt>
                <c:pt idx="3">
                  <c:v>1978337.0</c:v>
                </c:pt>
                <c:pt idx="4">
                  <c:v>2225603.0</c:v>
                </c:pt>
                <c:pt idx="5">
                  <c:v>2501253.0</c:v>
                </c:pt>
                <c:pt idx="6">
                  <c:v>2611061.0</c:v>
                </c:pt>
                <c:pt idx="7">
                  <c:v>3029159.0</c:v>
                </c:pt>
                <c:pt idx="8">
                  <c:v>3454061.0</c:v>
                </c:pt>
                <c:pt idx="9">
                  <c:v>3719895.0</c:v>
                </c:pt>
                <c:pt idx="10">
                  <c:v>4083415.0</c:v>
                </c:pt>
                <c:pt idx="11">
                  <c:v>4585400.0</c:v>
                </c:pt>
                <c:pt idx="12">
                  <c:v>5029289.0</c:v>
                </c:pt>
                <c:pt idx="13">
                  <c:v>5435820.0</c:v>
                </c:pt>
                <c:pt idx="14">
                  <c:v>5663968.0</c:v>
                </c:pt>
                <c:pt idx="15">
                  <c:v>5887859.0</c:v>
                </c:pt>
                <c:pt idx="16">
                  <c:v>6223879.0</c:v>
                </c:pt>
                <c:pt idx="17">
                  <c:v>6772786.0</c:v>
                </c:pt>
                <c:pt idx="18">
                  <c:v>6737553.0</c:v>
                </c:pt>
                <c:pt idx="19">
                  <c:v>7382104.0</c:v>
                </c:pt>
                <c:pt idx="20">
                  <c:v>8028769.0</c:v>
                </c:pt>
                <c:pt idx="21">
                  <c:v>8612266.0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9144000" cy="18288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Secretaria Municipal de Desenvolvimento, Ciência, Tecnologia e Inovação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Resumo Executivo Socioeconômico – Governador Valadares/MG</a:t>
            </a:r>
          </a:p>
          <a:p>
            <a:pPr>
              <a:defRPr sz="1800">
                <a:solidFill>
                  <a:srgbClr val="3B82F6"/>
                </a:solidFill>
              </a:defRPr>
            </a:pPr>
            <a:r>
              <a:t>Série Analisada: 2000 a 2026</a:t>
            </a:r>
          </a:p>
        </p:txBody>
      </p:sp>
      <p:pic>
        <p:nvPicPr>
          <p:cNvPr id="5" name="Picture 4" descr="logo_prefei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82880"/>
            <a:ext cx="1371600" cy="4555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Observatório Socioeconômico Governador Valadares/MG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t>GINI (IBGE)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097280"/>
          <a:ext cx="82296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846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t>Análise: Queda moderada (-13.6%)</a:t>
            </a:r>
          </a:p>
          <a:p>
            <a:r>
              <a:t>No período de 2000 a 2010, o indicador apresentou **queda moderada**. A variação total foi de **-13.6%**, com uma taxa anual média (CAGR) de **-1.4%**. O valor saiu de 0,62 para 0,54.</a:t>
            </a:r>
          </a:p>
        </p:txBody>
      </p:sp>
      <p:pic>
        <p:nvPicPr>
          <p:cNvPr id="5" name="Picture 4" descr="logo_prefei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82880"/>
            <a:ext cx="1371600" cy="4555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Observatório Socioeconômico Governador Valadares/MG |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t>GINI (MANUAL_CSV)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097280"/>
          <a:ext cx="82296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846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t>Análise: Queda moderada (-13.6%)</a:t>
            </a:r>
          </a:p>
          <a:p>
            <a:r>
              <a:t>No período de 2000 a 2010, o indicador apresentou **queda moderada**. A variação total foi de **-13.6%**, com uma taxa anual média (CAGR) de **-1.4%**. O valor saiu de 0,62 para 0,54.</a:t>
            </a:r>
          </a:p>
        </p:txBody>
      </p:sp>
      <p:pic>
        <p:nvPicPr>
          <p:cNvPr id="5" name="Picture 4" descr="logo_prefei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82880"/>
            <a:ext cx="1371600" cy="4555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Observatório Socioeconômico Governador Valadares/MG |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t>IDHM (ATLAS_BRASIL)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097280"/>
          <a:ext cx="82296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846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t>Análise: Crescimento moderado (+14.5%)</a:t>
            </a:r>
          </a:p>
          <a:p>
            <a:r>
              <a:t>No período de 2000 a 2010, o indicador apresentou **crescimento moderado**. A variação total foi de **+14.5%**, com uma taxa anual média (CAGR) de **1.4%**. O valor saiu de 0,64 para 0,73.</a:t>
            </a:r>
          </a:p>
        </p:txBody>
      </p:sp>
      <p:pic>
        <p:nvPicPr>
          <p:cNvPr id="5" name="Picture 4" descr="logo_prefei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82880"/>
            <a:ext cx="1371600" cy="4555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Observatório Socioeconômico Governador Valadares/MG |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t>IDHM (MANUAL_CSV)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097280"/>
          <a:ext cx="82296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846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t>Análise: Crescimento moderado (+14.5%)</a:t>
            </a:r>
          </a:p>
          <a:p>
            <a:r>
              <a:t>No período de 2000 a 2010, o indicador apresentou **crescimento moderado**. A variação total foi de **+14.5%**, com uma taxa anual média (CAGR) de **1.4%**. O valor saiu de 0,64 para 0,73.</a:t>
            </a:r>
          </a:p>
        </p:txBody>
      </p:sp>
      <p:pic>
        <p:nvPicPr>
          <p:cNvPr id="5" name="Picture 4" descr="logo_prefei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82880"/>
            <a:ext cx="1371600" cy="4555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Observatório Socioeconômico Governador Valadares/MG |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t>PIB_ESTIMADO (PROJECAO_INTERNA)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097280"/>
          <a:ext cx="82296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846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t>Análise: Crescimento moderado (+9.0%)</a:t>
            </a:r>
          </a:p>
          <a:p>
            <a:r>
              <a:t>No período de 2024 a 2026, o indicador apresentou **crescimento moderado**. A variação total foi de **+9.0%**, com uma taxa anual média (CAGR) de **4.4%**. O valor saiu de 8.692.949,95 para 9.479.618,29.</a:t>
            </a:r>
          </a:p>
        </p:txBody>
      </p:sp>
      <p:pic>
        <p:nvPicPr>
          <p:cNvPr id="5" name="Picture 4" descr="logo_prefei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82880"/>
            <a:ext cx="1371600" cy="4555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Observatório Socioeconômico Governador Valadares/MG |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t>PIB_TOTAL (IBGE)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097280"/>
          <a:ext cx="82296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846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t>Análise: Crescimento forte (+490.0%)</a:t>
            </a:r>
          </a:p>
          <a:p>
            <a:r>
              <a:t>No período de 2002 a 2023, o indicador apresentou **crescimento forte**. A variação total foi de **+490.0%**, com uma taxa anual média (CAGR) de **8.8%**. O valor saiu de 1.459.769,00 para 8.612.266,00.</a:t>
            </a:r>
          </a:p>
        </p:txBody>
      </p:sp>
      <p:pic>
        <p:nvPicPr>
          <p:cNvPr id="5" name="Picture 4" descr="logo_prefei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82880"/>
            <a:ext cx="1371600" cy="4555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Observatório Socioeconômico Governador Valadares/MG |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