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Secretaria Municipal de Desenvolvimento, Ciência, Tecnologia 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Resumo Executivo Socioeconômico</a:t>
            </a:r>
            <a:br/>
            <a:r>
              <a:t>Governador Valadares/MG</a:t>
            </a:r>
          </a:p>
          <a:p>
            <a:pPr algn="ctr">
              <a:defRPr sz="2000">
                <a:solidFill>
                  <a:srgbClr val="3B82F6"/>
                </a:solidFill>
              </a:defRPr>
            </a:pPr>
            <a:r>
              <a:t>Série Analisada: 2018 a 2026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Mensagem-Chave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Principais destaques estratégicos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</a:defRPr>
            </a:pPr>
            <a:r>
              <a:t>3 insights essenciais para tomada de decisão: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AREA_URBANA: 317 em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EMISSOES_GEE: 154,457 em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EMPREENDEDORES_MEI: 4,086 em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Foco em oportunidades de crescimento sustentável</a:t>
            </a:r>
          </a:p>
        </p:txBody>
      </p:sp>
      <p:pic>
        <p:nvPicPr>
          <p:cNvPr id="9" name="Picture 8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Panorama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Diagnóstico rápido do município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PIB per capita</a:t>
            </a:r>
          </a:p>
          <a:p>
            <a:pPr>
              <a:defRPr sz="1600" b="1"/>
            </a:pPr>
            <a:r>
              <a:t>20,001</a:t>
            </a:r>
          </a:p>
          <a:p>
            <a:pPr>
              <a:defRPr sz="1100">
                <a:solidFill>
                  <a:srgbClr val="16A34A"/>
                </a:solidFill>
              </a:defRPr>
            </a:pPr>
            <a:r>
              <a:t>📈 +2.2%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IDSC-BR</a:t>
            </a:r>
          </a:p>
          <a:p>
            <a:pPr>
              <a:defRPr sz="1600" b="1"/>
            </a:pPr>
            <a:r>
              <a:t>135,679</a:t>
            </a:r>
          </a:p>
          <a:p>
            <a:pPr>
              <a:defRPr sz="1100">
                <a:solidFill>
                  <a:srgbClr val="16A34A"/>
                </a:solidFill>
              </a:defRPr>
            </a:pPr>
            <a:r>
              <a:t>📈 +3.4%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Localização estratégica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Governador Valadares</a:t>
            </a:r>
            <a:br/>
            <a:r>
              <a:t>Vale do Rio Doce - MG</a:t>
            </a:r>
            <a:br/>
            <a:r>
              <a:t>Posição estratégica para logística</a:t>
            </a:r>
            <a:br/>
            <a:r>
              <a:t>Acesso a corredores econômicos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Síntese: crescimento em AREA_URBANA, EMPREENDEDORES_MEI e queda em EMISSOES_GEE, SEBRAE_GERAL.</a:t>
            </a:r>
          </a:p>
        </p:txBody>
      </p:sp>
      <p:pic>
        <p:nvPicPr>
          <p:cNvPr id="8" name="Picture 7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Economia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PIB e estrutura produtiva</a:t>
            </a:r>
          </a:p>
        </p:txBody>
      </p:sp>
      <p:pic>
        <p:nvPicPr>
          <p:cNvPr id="4" name="Picture 3" descr="economi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Fonte: Base de Dados Integrada (Painel GV)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Crescimento econômico sustentável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Diversificação produtiva</a:t>
            </a:r>
          </a:p>
        </p:txBody>
      </p:sp>
      <p:pic>
        <p:nvPicPr>
          <p:cNvPr id="8" name="Picture 7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Trabalho e Renda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Mercado formal e empreendedorismo</a:t>
            </a:r>
          </a:p>
        </p:txBody>
      </p:sp>
      <p:pic>
        <p:nvPicPr>
          <p:cNvPr id="4" name="Picture 3" descr="trabalho_r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Fonte: Base de Dados Integrada (Painel GV)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Geração de empregos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Massa salarial em expansão</a:t>
            </a:r>
          </a:p>
        </p:txBody>
      </p:sp>
      <p:pic>
        <p:nvPicPr>
          <p:cNvPr id="8" name="Picture 7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Capital Humano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Educação e saúde</a:t>
            </a:r>
          </a:p>
        </p:txBody>
      </p:sp>
      <p:pic>
        <p:nvPicPr>
          <p:cNvPr id="4" name="Picture 3" descr="capital_human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Fonte: Base de Dados Integrada (Painel GV)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Investimento em capital humano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Qualidade de vida</a:t>
            </a:r>
          </a:p>
        </p:txBody>
      </p:sp>
      <p:pic>
        <p:nvPicPr>
          <p:cNvPr id="8" name="Picture 7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Sustentabilidade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Desenvolvimento sustentável</a:t>
            </a:r>
          </a:p>
        </p:txBody>
      </p:sp>
      <p:pic>
        <p:nvPicPr>
          <p:cNvPr id="4" name="Picture 3" descr="sustentabilidad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Fonte: Base de Dados Integrada (Painel GV)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Equilíbrio ambiental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Desenvolvimento consciente</a:t>
            </a:r>
          </a:p>
        </p:txBody>
      </p:sp>
      <p:pic>
        <p:nvPicPr>
          <p:cNvPr id="8" name="Picture 7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Tendências e Projeções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Cenários futuros e oportunidades</a:t>
            </a:r>
          </a:p>
        </p:txBody>
      </p:sp>
      <p:pic>
        <p:nvPicPr>
          <p:cNvPr id="4" name="Picture 3" descr="trends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Fonte: Base de Dados Integrada (Painel GV)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Tendências de médio prazo baseadas em dados históricos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Projeções estatísticas com intervalos de confiança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Cenários otimista e pessimista considerados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Preparar o futuro hoje</a:t>
            </a:r>
          </a:p>
        </p:txBody>
      </p:sp>
      <p:pic>
        <p:nvPicPr>
          <p:cNvPr id="10" name="Picture 9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Oportunidades Estratégicas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Áreas prioritárias de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Oportunidades identificadas (com base em tendências reais)</a:t>
            </a:r>
          </a:p>
          <a:p>
            <a:pPr>
              <a:defRPr sz="1400"/>
            </a:pPr>
            <a:r>
              <a:t>• AREA_URBANA: 317 km² em 2024</a:t>
            </a:r>
          </a:p>
          <a:p>
            <a:pPr>
              <a:defRPr sz="1400"/>
            </a:pPr>
            <a:r>
              <a:t>• ESTABELECIMENTOS_SEBRAE: 15,806 Estabelecimentos em 2024</a:t>
            </a:r>
          </a:p>
          <a:p>
            <a:pPr>
              <a:defRPr sz="1400"/>
            </a:pPr>
            <a:r>
              <a:t>• IDSC_GERAL: 135,679 None em 2022</a:t>
            </a:r>
          </a:p>
          <a:p>
            <a:pPr>
              <a:defRPr sz="1400"/>
            </a:pPr>
            <a:r>
              <a:t>• INDICE_SUSTENTABILIDADE: 135,679 None em 2022</a:t>
            </a:r>
          </a:p>
          <a:p>
            <a:pPr>
              <a:defRPr sz="1400"/>
            </a:pPr>
            <a:r>
              <a:t>• MATRICULAS_TOTAL: 56,543 None em 2022</a:t>
            </a:r>
          </a:p>
          <a:p>
            <a:pPr>
              <a:defRPr sz="1400"/>
            </a:pPr>
            <a:r>
              <a:t>• OBITOS_TOTAL: 1,616 Óbitos em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Fonte: Base de Dados Integrada (Painel GV)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Setores com maior potencial de crescimento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Investimentos prioritários para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Parcerias estratégicas a serem exploradas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Agir nas oportunidades identificadas</a:t>
            </a:r>
          </a:p>
        </p:txBody>
      </p:sp>
      <p:pic>
        <p:nvPicPr>
          <p:cNvPr id="10" name="Picture 9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Agenda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</a:defRPr>
            </a:pPr>
            <a:r>
              <a:t>Transformar dados em 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Implementar plano de desenvolvimento integrado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Monitorar indicadores-chave continuamente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Fortalecer capacidade técnica municipal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1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Promover transparência e participação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Avaliar impactos das intervenções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Observatório Socioeconômico de Governador Valadares</a:t>
            </a:r>
            <a:br/>
            <a:r>
              <a:t>contato@Governador Valadares.mg.gov.br</a:t>
            </a:r>
          </a:p>
        </p:txBody>
      </p:sp>
      <p:pic>
        <p:nvPicPr>
          <p:cNvPr id="11" name="Picture 10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