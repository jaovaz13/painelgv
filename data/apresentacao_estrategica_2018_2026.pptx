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Secretaria Municipal de Desenvolvimento, Ciência, Tecnologia e Inovação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Resumo Executivo Socioeconômico</a:t>
            </a:r>
            <a:br/>
            <a:r>
              <a:t>Governador Valadares/MG</a:t>
            </a:r>
          </a:p>
          <a:p>
            <a:pPr algn="ctr">
              <a:defRPr sz="2000">
                <a:solidFill>
                  <a:srgbClr val="3B82F6"/>
                </a:solidFill>
              </a:defRPr>
            </a:pPr>
            <a:r>
              <a:t>Série Analisada: 2018 a 2026</a:t>
            </a:r>
          </a:p>
        </p:txBody>
      </p:sp>
      <p:pic>
        <p:nvPicPr>
          <p:cNvPr id="5" name="Picture 4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82880"/>
            <a:ext cx="1371600" cy="4555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Observatório Socioeconômico Governador Valadares/MG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E3A8A"/>
                </a:solidFill>
              </a:defRPr>
            </a:pPr>
            <a:r>
              <a:t>Mensagem-Chave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3B82F6"/>
                </a:solidFill>
              </a:defRPr>
            </a:pPr>
            <a:r>
              <a:t>Principais destaques estratégicos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E3A8A"/>
                </a:solidFill>
              </a:defRPr>
            </a:pPr>
            <a:r>
              <a:t>3 insights essenciais para tomada de decisão: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📈 AREA_URBANA: 308 em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📉 EMISSOES_GEE: 154,457 em 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7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📈 EMPREENDEDORES_MEI: 4,042 em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6A34A"/>
                </a:solidFill>
              </a:defRPr>
            </a:pPr>
            <a:r>
              <a:t>Foco em oportunidades de crescimento sustentável</a:t>
            </a:r>
          </a:p>
        </p:txBody>
      </p:sp>
      <p:pic>
        <p:nvPicPr>
          <p:cNvPr id="9" name="Picture 8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82880"/>
            <a:ext cx="1371600" cy="4555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Observatório Socioeconômico Governador Valadares/MG |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E3A8A"/>
                </a:solidFill>
              </a:defRPr>
            </a:pPr>
            <a:r>
              <a:t>Panorama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3B82F6"/>
                </a:solidFill>
              </a:defRPr>
            </a:pPr>
            <a:r>
              <a:t>Diagnóstico rápido do município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/>
            </a:pPr>
            <a:r>
              <a:t>PIB per capita</a:t>
            </a:r>
          </a:p>
          <a:p>
            <a:pPr>
              <a:defRPr sz="1600" b="1"/>
            </a:pPr>
            <a:r>
              <a:t>20,001</a:t>
            </a:r>
          </a:p>
          <a:p>
            <a:pPr>
              <a:defRPr sz="1100">
                <a:solidFill>
                  <a:srgbClr val="16A34A"/>
                </a:solidFill>
              </a:defRPr>
            </a:pPr>
            <a:r>
              <a:t>📈 +2.2%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 b="1"/>
            </a:pPr>
            <a:r>
              <a:t>IDSC-BR</a:t>
            </a:r>
          </a:p>
          <a:p>
            <a:pPr>
              <a:defRPr sz="1600" b="1"/>
            </a:pPr>
            <a:r>
              <a:t>135,679</a:t>
            </a:r>
          </a:p>
          <a:p>
            <a:pPr>
              <a:defRPr sz="1100">
                <a:solidFill>
                  <a:srgbClr val="16A34A"/>
                </a:solidFill>
              </a:defRPr>
            </a:pPr>
            <a:r>
              <a:t>📈 +3.4%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📍 Localização Estratégica</a:t>
            </a:r>
          </a:p>
          <a:p>
            <a:pPr algn="ctr">
              <a:defRPr sz="1400">
                <a:solidFill>
                  <a:srgbClr val="0F172A"/>
                </a:solidFill>
              </a:defRPr>
            </a:pPr>
            <a:r>
              <a:t>Governador Valadares</a:t>
            </a:r>
            <a:br/>
            <a:r>
              <a:t>Vale do Rio Doce - MG</a:t>
            </a:r>
            <a:br/>
            <a:r>
              <a:t>Posição estratégica para logística</a:t>
            </a:r>
            <a:br/>
            <a:r>
              <a:t>Acesso a corredores econômicos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📊 O município apresenta desempenho intermediário em desenvolvimento econômico e fragilidades ambientais.</a:t>
            </a:r>
          </a:p>
        </p:txBody>
      </p:sp>
      <p:pic>
        <p:nvPicPr>
          <p:cNvPr id="8" name="Picture 7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82880"/>
            <a:ext cx="1371600" cy="455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Observatório Socioeconômico Governador Valadares/MG |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E3A8A"/>
                </a:solidFill>
              </a:defRPr>
            </a:pPr>
            <a:r>
              <a:t>Economia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3B82F6"/>
                </a:solidFill>
              </a:defRPr>
            </a:pPr>
            <a:r>
              <a:t>PIB e estrutura produtiva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/>
            </a:pPr>
            <a:r>
              <a:t>Gráfico não disponível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Crescimento econômico sustentável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Diversificação produtiva</a:t>
            </a:r>
          </a:p>
        </p:txBody>
      </p:sp>
      <p:pic>
        <p:nvPicPr>
          <p:cNvPr id="7" name="Picture 6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82880"/>
            <a:ext cx="1371600" cy="4555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Observatório Socioeconômico Governador Valadares/MG |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E3A8A"/>
                </a:solidFill>
              </a:defRPr>
            </a:pPr>
            <a:r>
              <a:t>Trabalho e Renda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3B82F6"/>
                </a:solidFill>
              </a:defRPr>
            </a:pPr>
            <a:r>
              <a:t>Mercado formal e empreendedorismo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/>
            </a:pPr>
            <a:r>
              <a:t>Gráfico não disponível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Geração de empregos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Massa salarial em expansão</a:t>
            </a:r>
          </a:p>
        </p:txBody>
      </p:sp>
      <p:pic>
        <p:nvPicPr>
          <p:cNvPr id="7" name="Picture 6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82880"/>
            <a:ext cx="1371600" cy="4555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Observatório Socioeconômico Governador Valadares/MG |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E3A8A"/>
                </a:solidFill>
              </a:defRPr>
            </a:pPr>
            <a:r>
              <a:t>Capital Humano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3B82F6"/>
                </a:solidFill>
              </a:defRPr>
            </a:pPr>
            <a:r>
              <a:t>Educação e saúde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/>
            </a:pPr>
            <a:r>
              <a:t>Gráfico não disponível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Investimento em capital humano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Qualidade de vida</a:t>
            </a:r>
          </a:p>
        </p:txBody>
      </p:sp>
      <p:pic>
        <p:nvPicPr>
          <p:cNvPr id="7" name="Picture 6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82880"/>
            <a:ext cx="1371600" cy="4555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Observatório Socioeconômico Governador Valadares/MG |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E3A8A"/>
                </a:solidFill>
              </a:defRPr>
            </a:pPr>
            <a:r>
              <a:t>Sustentabilidade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3B82F6"/>
                </a:solidFill>
              </a:defRPr>
            </a:pPr>
            <a:r>
              <a:t>Desenvolvimento sustentável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/>
            </a:pPr>
            <a:r>
              <a:t>Gráfico não disponível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Equilíbrio ambiental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Desenvolvimento consciente</a:t>
            </a:r>
          </a:p>
        </p:txBody>
      </p:sp>
      <p:pic>
        <p:nvPicPr>
          <p:cNvPr id="7" name="Picture 6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82880"/>
            <a:ext cx="1371600" cy="4555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Observatório Socioeconômico Governador Valadares/MG |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E3A8A"/>
                </a:solidFill>
              </a:defRPr>
            </a:pPr>
            <a:r>
              <a:t>Tendências e Projeções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3B82F6"/>
                </a:solidFill>
              </a:defRPr>
            </a:pPr>
            <a:r>
              <a:t>Cenários futuros e oportunidades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/>
            </a:pPr>
            <a:r>
              <a:t>Gráfico não disponível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Tendências de médio prazo baseadas em dados históricos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Projeções estatísticas com intervalos de confiança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7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Cenários otimista e pessimista considerados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t>Preparar o futuro hoje</a:t>
            </a:r>
          </a:p>
        </p:txBody>
      </p:sp>
      <p:pic>
        <p:nvPicPr>
          <p:cNvPr id="9" name="Picture 8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82880"/>
            <a:ext cx="1371600" cy="4555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Observatório Socioeconômico Governador Valadares/MG |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E3A8A"/>
                </a:solidFill>
              </a:defRPr>
            </a:pPr>
            <a:r>
              <a:t>Oportunidades Estratégicas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3B82F6"/>
                </a:solidFill>
              </a:defRPr>
            </a:pPr>
            <a:r>
              <a:t>Áreas prioritárias de investimento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 b="1"/>
            </a:pPr>
            <a:r>
              <a:t>Gráfico não disponível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Setores com maior potencial de crescimento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Investimentos prioritários para desenvolvimento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7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Parcerias estratégicas a serem exploradas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6A34A"/>
                </a:solidFill>
              </a:defRPr>
            </a:pPr>
            <a:r>
              <a:t>Agir nas oportunidades identificadas</a:t>
            </a:r>
          </a:p>
        </p:txBody>
      </p:sp>
      <p:pic>
        <p:nvPicPr>
          <p:cNvPr id="9" name="Picture 8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82880"/>
            <a:ext cx="1371600" cy="4555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Observatório Socioeconômico Governador Valadares/MG |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E3A8A"/>
                </a:solidFill>
              </a:defRPr>
            </a:pPr>
            <a: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3B82F6"/>
                </a:solidFill>
              </a:defRPr>
            </a:pPr>
            <a:r>
              <a:t>Agenda estratégica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E3A8A"/>
                </a:solidFill>
              </a:defRPr>
            </a:pPr>
            <a:r>
              <a:t>Transformar dados em 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Implementar plano de desenvolvimento integrado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Monitorar indicadores-chave continuamente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7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Fortalecer capacidade técnica municipal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1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Promover transparência e participação social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5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• Avaliar impactos das intervenções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748B"/>
                </a:solidFill>
              </a:defRPr>
            </a:pPr>
            <a:r>
              <a:t>Observatório Socioeconômico de Governador Valadares</a:t>
            </a:r>
            <a:br/>
            <a:r>
              <a:t>contato@Governador Valadares.mg.gov.br</a:t>
            </a:r>
          </a:p>
        </p:txBody>
      </p:sp>
      <p:pic>
        <p:nvPicPr>
          <p:cNvPr id="11" name="Picture 10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82880"/>
            <a:ext cx="1371600" cy="4555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Observatório Socioeconômico Governador Valadares/MG |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